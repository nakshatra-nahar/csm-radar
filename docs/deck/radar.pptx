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Radar is what I built for the take-home. Every Monday it gives each CSM a short list of the accounts to call, the reason for each one, and a draft email. All the data is synthetic: three customer organisations, 5,000 accounts and about 230,000 records across five sources, messy and out of order on purpose.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VP asked for red, yellow and green per account, and an automatic email when an account goes red. I read the real problem as a choice each CSM makes every Monday: which ten of their accounts get a call this week. Colours don't rank a book, and an automatic email to a customer with an angry open ticket does damage, so I built a ranked list with evidence and drafts that a human approves.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week for one hearthline CSM, from the full-size database. Hard facts come first as must-act cases with a due date. A check-in covers an account we know too little about that renews soon. Then the model's slots fill the list to ten, each with its top behavioural reason and a draft that waits for the CSM.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 facts never wait for a model: they open a case with an owner and a due date. Then up to two check-ins for accounts we can't see that renew soon. The model fills what is left, ranked by p times ARR, and a slot needs at least the tenant's mean expected ARR at risk. Capacity is a cap, so a healthy book gets a shorter list, and the floor is on the ranking key, so it never reorders a list. The 90 under a floor on p is in docs/measurements.md, from the earlier eval at commit f517b6c.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account page: the why is the model's contributions in log-odds, grouped by source, and the brief cites evidence items E1 to E5. On the right is the trace for the same score: the run, the model version, the as-of time, the source watermarks and the code hash of every feature. Recompute from raw rebuilds the features and p from stored events with that run's model, and here it matches.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at K is the share of the ARR that went on to churn that was on a CSM's top ten that week, from a point-in-time backtest with rolling origins. The model beats the rules by about eight and ten points, and both intervals stay above zero. Renewal-date sort does worse than random in hearthline, where its interval sits below random's, and no better than random in tallyworks, where the intervals overlap: accounts close to renewal have mostly already announced their decision and left the list. The VP's two lost renewals were on the model's lists 12 and 11 weeks ahead; renewal sort found them 2 weeks and 1 week ahead.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Records land unchanged in raw_records, then become events with two clocks: when something happened and when we could first have known it. Every feature is read as of a time T, so training never sees the future. Identity uses exact keys only. Isolation is Postgres row-level security, forced on every tenant table, and the app's roles cannot bypass it; each tenant gets its own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presses a button for any of this. A payment failure or a stalled ticket queues a rule check in the same transaction that stores it, a daily sweep rescores every account, Monday freezes the lists, and an hourly check escalates missed due dates once. The LLM only writes the wording: a deterministic validator checks it, a template replaces it if it fails twice, and nothing reaches a customer until a CSM approves the draft.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from docs/measurements.md: measured at 1x and on tiled 10x frames, with the database numbers projected. Storage breaks first, at about 1.7 times today's data on Neon's free tier. Then worker memory, because every job loads the whole tenant's history. Then the 60-second window a job gets when it starts late in a tick. The daily sweep itself does not break: about 30 seconds projected at 10x.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is a real pilot, because the backtest can't tell us whether CSMs act on the list. After that, the 10x fixes and auto-send for one play at a time once CSMs send the drafts unedited most of the time. What I left out, I left out on purpose: fuzzy matching in particular, because a wrong match can put one customer's ticket into another customer's email.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828800"/>
            <a:ext cx="10058400" cy="1463040"/>
          </a:xfrm>
          <a:prstGeom prst="rect">
            <a:avLst/>
          </a:prstGeom>
          <a:noFill/>
        </p:spPr>
        <p:txBody>
          <a:bodyPr wrap="square" anchor="t" lIns="109728" rIns="109728" tIns="54864" bIns="54864">
            <a:spAutoFit/>
          </a:bodyPr>
          <a:lstStyle/>
          <a:p>
            <a:pPr algn="l">
              <a:spcAft>
                <a:spcPts val="3300"/>
              </a:spcAft>
            </a:pPr>
            <a:r>
              <a:rPr sz="6600" b="0">
                <a:solidFill>
                  <a:srgbClr val="1F1F1F"/>
                </a:solidFill>
                <a:latin typeface="Georgia"/>
              </a:rPr>
              <a:t>Radar</a:t>
            </a:r>
          </a:p>
        </p:txBody>
      </p:sp>
      <p:sp>
        <p:nvSpPr>
          <p:cNvPr id="4" name="TextBox 3"/>
          <p:cNvSpPr txBox="1"/>
          <p:nvPr/>
        </p:nvSpPr>
        <p:spPr>
          <a:xfrm>
            <a:off x="685800" y="3383280"/>
            <a:ext cx="10972800" cy="731520"/>
          </a:xfrm>
          <a:prstGeom prst="rect">
            <a:avLst/>
          </a:prstGeom>
          <a:noFill/>
        </p:spPr>
        <p:txBody>
          <a:bodyPr wrap="square" anchor="t" lIns="109728" rIns="109728" tIns="54864" bIns="54864">
            <a:spAutoFit/>
          </a:bodyPr>
          <a:lstStyle/>
          <a:p>
            <a:pPr algn="l">
              <a:spcAft>
                <a:spcPts val="1300"/>
              </a:spcAft>
            </a:pPr>
            <a:r>
              <a:rPr sz="2600" b="0">
                <a:solidFill>
                  <a:srgbClr val="0F5C5C"/>
                </a:solidFill>
                <a:latin typeface="Georgia"/>
              </a:rPr>
              <a:t>A Monday worklist for CSMs, built for the Fello take-home</a:t>
            </a:r>
          </a:p>
        </p:txBody>
      </p:sp>
      <p:sp>
        <p:nvSpPr>
          <p:cNvPr id="5" name="TextBox 4"/>
          <p:cNvSpPr txBox="1"/>
          <p:nvPr/>
        </p:nvSpPr>
        <p:spPr>
          <a:xfrm>
            <a:off x="685800" y="4754880"/>
            <a:ext cx="10058400" cy="822960"/>
          </a:xfrm>
          <a:prstGeom prst="rect">
            <a:avLst/>
          </a:prstGeom>
          <a:noFill/>
        </p:spPr>
        <p:txBody>
          <a:bodyPr wrap="square" anchor="t" lIns="109728" rIns="109728" tIns="54864" bIns="54864">
            <a:spAutoFit/>
          </a:bodyPr>
          <a:lstStyle/>
          <a:p>
            <a:pPr algn="l">
              <a:spcAft>
                <a:spcPts val="800"/>
              </a:spcAft>
            </a:pPr>
            <a:r>
              <a:rPr sz="1600" b="0">
                <a:solidFill>
                  <a:srgbClr val="5A5A5A"/>
                </a:solidFill>
                <a:latin typeface="Arial"/>
              </a:rPr>
              <a:t>Nakshatra Nahar · Staff Engineer, Data Architecture &amp; GTM AI Platform</a:t>
            </a:r>
          </a:p>
          <a:p>
            <a:pPr algn="l">
              <a:spcAft>
                <a:spcPts val="800"/>
              </a:spcAft>
            </a:pPr>
            <a:r>
              <a:rPr sz="1600" b="0">
                <a:solidFill>
                  <a:srgbClr val="5A5A5A"/>
                </a:solidFill>
                <a:latin typeface="Arial"/>
              </a:rPr>
              <a:t>October 2026 · all data synthetic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The real problem is a Monday decision</a:t>
            </a:r>
          </a:p>
        </p:txBody>
      </p:sp>
      <p:sp>
        <p:nvSpPr>
          <p:cNvPr id="4" name="TextBox 3"/>
          <p:cNvSpPr txBox="1"/>
          <p:nvPr/>
        </p:nvSpPr>
        <p:spPr>
          <a:xfrm>
            <a:off x="685800" y="1463040"/>
            <a:ext cx="5120640" cy="457200"/>
          </a:xfrm>
          <a:prstGeom prst="rect">
            <a:avLst/>
          </a:prstGeom>
          <a:noFill/>
        </p:spPr>
        <p:txBody>
          <a:bodyPr wrap="square" anchor="t" lIns="109728" rIns="109728" tIns="54864" bIns="54864">
            <a:spAutoFit/>
          </a:bodyPr>
          <a:lstStyle/>
          <a:p>
            <a:pPr algn="l">
              <a:spcAft>
                <a:spcPts val="700"/>
              </a:spcAft>
            </a:pPr>
            <a:r>
              <a:rPr sz="1400" b="1">
                <a:solidFill>
                  <a:srgbClr val="5A5A5A"/>
                </a:solidFill>
                <a:latin typeface="Arial"/>
              </a:rPr>
              <a:t>The request</a:t>
            </a:r>
          </a:p>
        </p:txBody>
      </p:sp>
      <p:sp>
        <p:nvSpPr>
          <p:cNvPr id="5" name="Rectangle 4"/>
          <p:cNvSpPr/>
          <p:nvPr/>
        </p:nvSpPr>
        <p:spPr>
          <a:xfrm>
            <a:off x="685800" y="1874519"/>
            <a:ext cx="5120640" cy="283464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950"/>
              </a:spcAft>
            </a:pPr>
            <a:r>
              <a:rPr sz="1900" b="0">
                <a:solidFill>
                  <a:srgbClr val="1F1F1F"/>
                </a:solidFill>
                <a:latin typeface="Georgia"/>
              </a:rPr>
              <a:t>“Every Monday they open a spreadsheet and basically guess who to call.”</a:t>
            </a:r>
          </a:p>
          <a:p>
            <a:pPr algn="l">
              <a:spcAft>
                <a:spcPts val="950"/>
              </a:spcAft>
            </a:pPr>
            <a:r>
              <a:rPr sz="1900" b="0">
                <a:solidFill>
                  <a:srgbClr val="1F1F1F"/>
                </a:solidFill>
                <a:latin typeface="Georgia"/>
              </a:rPr>
              <a:t>“What I want is a dashboard with a health score per account, red / yellow / green. And then automate the outreach — if an account goes red, the system should email them.”</a:t>
            </a:r>
          </a:p>
          <a:p>
            <a:pPr algn="l">
              <a:spcAft>
                <a:spcPts val="700"/>
              </a:spcAft>
            </a:pPr>
            <a:r>
              <a:rPr sz="1400" b="0">
                <a:solidFill>
                  <a:srgbClr val="5A5A5A"/>
                </a:solidFill>
                <a:latin typeface="Arial"/>
              </a:rPr>
              <a:t>VP Customer Success</a:t>
            </a:r>
          </a:p>
        </p:txBody>
      </p:sp>
      <p:sp>
        <p:nvSpPr>
          <p:cNvPr id="6" name="TextBox 5"/>
          <p:cNvSpPr txBox="1"/>
          <p:nvPr/>
        </p:nvSpPr>
        <p:spPr>
          <a:xfrm>
            <a:off x="6263640" y="1463040"/>
            <a:ext cx="5303520" cy="457200"/>
          </a:xfrm>
          <a:prstGeom prst="rect">
            <a:avLst/>
          </a:prstGeom>
          <a:noFill/>
        </p:spPr>
        <p:txBody>
          <a:bodyPr wrap="square" anchor="t" lIns="109728" rIns="109728" tIns="54864" bIns="54864">
            <a:spAutoFit/>
          </a:bodyPr>
          <a:lstStyle/>
          <a:p>
            <a:pPr algn="l">
              <a:spcAft>
                <a:spcPts val="700"/>
              </a:spcAft>
            </a:pPr>
            <a:r>
              <a:rPr sz="1400" b="1">
                <a:solidFill>
                  <a:srgbClr val="5A5A5A"/>
                </a:solidFill>
                <a:latin typeface="Arial"/>
              </a:rPr>
              <a:t>What I think the real problem is</a:t>
            </a:r>
          </a:p>
        </p:txBody>
      </p:sp>
      <p:sp>
        <p:nvSpPr>
          <p:cNvPr id="7" name="TextBox 6"/>
          <p:cNvSpPr txBox="1"/>
          <p:nvPr/>
        </p:nvSpPr>
        <p:spPr>
          <a:xfrm>
            <a:off x="6263640" y="1874519"/>
            <a:ext cx="5303520" cy="4206240"/>
          </a:xfrm>
          <a:prstGeom prst="rect">
            <a:avLst/>
          </a:prstGeom>
          <a:noFill/>
        </p:spPr>
        <p:txBody>
          <a:bodyPr wrap="square" anchor="t" lIns="109728" rIns="109728" tIns="54864" bIns="54864">
            <a:spAutoFit/>
          </a:bodyPr>
          <a:lstStyle/>
          <a:p>
            <a:pPr algn="l">
              <a:spcAft>
                <a:spcPts val="750"/>
              </a:spcAft>
            </a:pPr>
            <a:r>
              <a:rPr sz="1500" b="1">
                <a:solidFill>
                  <a:srgbClr val="0F5C5C"/>
                </a:solidFill>
                <a:latin typeface="Arial"/>
              </a:rPr>
              <a:t>A capacity problem. </a:t>
            </a:r>
            <a:r>
              <a:rPr sz="1500" b="0">
                <a:solidFill>
                  <a:srgbClr val="1F1F1F"/>
                </a:solidFill>
                <a:latin typeface="Arial"/>
              </a:rPr>
              <a:t>A CSM owns about 110 accounts (measured) and has room for about ten proactive calls a week.</a:t>
            </a:r>
          </a:p>
          <a:p>
            <a:pPr algn="l">
              <a:spcAft>
                <a:spcPts val="750"/>
              </a:spcAft>
            </a:pPr>
            <a:r>
              <a:rPr sz="1500" b="1">
                <a:solidFill>
                  <a:srgbClr val="0F5C5C"/>
                </a:solidFill>
                <a:latin typeface="Arial"/>
              </a:rPr>
              <a:t>A ranking problem. </a:t>
            </a:r>
            <a:r>
              <a:rPr sz="1500" b="0">
                <a:solidFill>
                  <a:srgbClr val="1F1F1F"/>
                </a:solidFill>
                <a:latin typeface="Arial"/>
              </a:rPr>
              <a:t>CSMs need to know who to call this week and why, with evidence they can trust. Thirty red accounts is still a guess about who comes first.</a:t>
            </a:r>
          </a:p>
          <a:p>
            <a:pPr algn="l">
              <a:spcAft>
                <a:spcPts val="750"/>
              </a:spcAft>
            </a:pPr>
            <a:r>
              <a:rPr sz="1500" b="1">
                <a:solidFill>
                  <a:srgbClr val="0F5C5C"/>
                </a:solidFill>
                <a:latin typeface="Arial"/>
              </a:rPr>
              <a:t>A trust problem. </a:t>
            </a:r>
            <a:r>
              <a:rPr sz="1500" b="0">
                <a:solidFill>
                  <a:srgbClr val="1F1F1F"/>
                </a:solidFill>
                <a:latin typeface="Arial"/>
              </a:rPr>
              <a:t>An automatic email to a red account can reach a customer with an angry open ticket, or a champion who left last month.</a:t>
            </a:r>
          </a:p>
          <a:p>
            <a:pPr algn="l">
              <a:spcAft>
                <a:spcPts val="750"/>
              </a:spcAft>
            </a:pPr>
            <a:r>
              <a:rPr sz="1500" b="1">
                <a:solidFill>
                  <a:srgbClr val="0F5C5C"/>
                </a:solidFill>
                <a:latin typeface="Arial"/>
              </a:rPr>
              <a:t>So: </a:t>
            </a:r>
            <a:r>
              <a:rPr sz="1500" b="0">
                <a:solidFill>
                  <a:srgbClr val="1F1F1F"/>
                </a:solidFill>
                <a:latin typeface="Arial"/>
              </a:rPr>
              <a:t>a ranked weekly list sized to capacity, every risk with an owner and a due date, and drafts that a human sends.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What a CSM sees on Monday</a:t>
            </a:r>
          </a:p>
        </p:txBody>
      </p:sp>
      <p:pic>
        <p:nvPicPr>
          <p:cNvPr id="4" name="Picture 3" descr="week.png"/>
          <p:cNvPicPr>
            <a:picLocks noChangeAspect="1"/>
          </p:cNvPicPr>
          <p:nvPr/>
        </p:nvPicPr>
        <p:blipFill>
          <a:blip r:embed="rId3"/>
          <a:srcRect/>
          <a:stretch>
            <a:fillRect/>
          </a:stretch>
        </p:blipFill>
        <p:spPr>
          <a:xfrm>
            <a:off x="750055" y="1325880"/>
            <a:ext cx="6820929" cy="5257800"/>
          </a:xfrm>
          <a:prstGeom prst="rect">
            <a:avLst/>
          </a:prstGeom>
          <a:ln>
            <a:solidFill>
              <a:srgbClr val="D9D4C7"/>
            </a:solidFill>
          </a:ln>
        </p:spPr>
      </p:pic>
      <p:sp>
        <p:nvSpPr>
          <p:cNvPr id="5" name="Oval 4"/>
          <p:cNvSpPr/>
          <p:nvPr/>
        </p:nvSpPr>
        <p:spPr>
          <a:xfrm>
            <a:off x="1043733" y="2500595"/>
            <a:ext cx="256032" cy="256032"/>
          </a:xfrm>
          <a:prstGeom prst="ellipse">
            <a:avLst/>
          </a:prstGeom>
          <a:solidFill>
            <a:srgbClr val="0F5C5C"/>
          </a:solidFill>
          <a:ln>
            <a:solidFill>
              <a:srgbClr val="FFF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DF8"/>
                </a:solidFill>
                <a:latin typeface="Arial"/>
              </a:rPr>
              <a:t>1</a:t>
            </a:r>
          </a:p>
        </p:txBody>
      </p:sp>
      <p:sp>
        <p:nvSpPr>
          <p:cNvPr id="6" name="Oval 5"/>
          <p:cNvSpPr/>
          <p:nvPr/>
        </p:nvSpPr>
        <p:spPr>
          <a:xfrm>
            <a:off x="1043733" y="5011076"/>
            <a:ext cx="256032" cy="256032"/>
          </a:xfrm>
          <a:prstGeom prst="ellipse">
            <a:avLst/>
          </a:prstGeom>
          <a:solidFill>
            <a:srgbClr val="0F5C5C"/>
          </a:solidFill>
          <a:ln>
            <a:solidFill>
              <a:srgbClr val="FFF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DF8"/>
                </a:solidFill>
                <a:latin typeface="Arial"/>
              </a:rPr>
              <a:t>2</a:t>
            </a:r>
          </a:p>
        </p:txBody>
      </p:sp>
      <p:sp>
        <p:nvSpPr>
          <p:cNvPr id="7" name="Oval 6"/>
          <p:cNvSpPr/>
          <p:nvPr/>
        </p:nvSpPr>
        <p:spPr>
          <a:xfrm>
            <a:off x="5752070" y="2832168"/>
            <a:ext cx="256032" cy="256032"/>
          </a:xfrm>
          <a:prstGeom prst="ellipse">
            <a:avLst/>
          </a:prstGeom>
          <a:solidFill>
            <a:srgbClr val="0F5C5C"/>
          </a:solidFill>
          <a:ln>
            <a:solidFill>
              <a:srgbClr val="FFFDF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DF8"/>
                </a:solidFill>
                <a:latin typeface="Arial"/>
              </a:rPr>
              <a:t>3</a:t>
            </a:r>
          </a:p>
        </p:txBody>
      </p:sp>
      <p:sp>
        <p:nvSpPr>
          <p:cNvPr id="8" name="TextBox 7"/>
          <p:cNvSpPr txBox="1"/>
          <p:nvPr/>
        </p:nvSpPr>
        <p:spPr>
          <a:xfrm>
            <a:off x="7909560" y="1325880"/>
            <a:ext cx="3840480" cy="5257800"/>
          </a:xfrm>
          <a:prstGeom prst="rect">
            <a:avLst/>
          </a:prstGeom>
          <a:noFill/>
        </p:spPr>
        <p:txBody>
          <a:bodyPr wrap="square" anchor="t" lIns="109728" rIns="109728" tIns="54864" bIns="54864">
            <a:spAutoFit/>
          </a:bodyPr>
          <a:lstStyle/>
          <a:p>
            <a:pPr algn="l">
              <a:spcAft>
                <a:spcPts val="700"/>
              </a:spcAft>
            </a:pPr>
            <a:r>
              <a:rPr sz="1400" b="1">
                <a:solidFill>
                  <a:srgbClr val="0F5C5C"/>
                </a:solidFill>
                <a:latin typeface="Arial"/>
              </a:rPr>
              <a:t>1  Must act. </a:t>
            </a:r>
            <a:r>
              <a:rPr sz="1400" b="0">
                <a:solidFill>
                  <a:srgbClr val="1F1F1F"/>
                </a:solidFill>
                <a:latin typeface="Arial"/>
              </a:rPr>
              <a:t>A hard fact (a cancellation, an urgent ticket stalled for three days) opens a case with a due date. It skips the model.</a:t>
            </a:r>
          </a:p>
          <a:p>
            <a:pPr algn="l">
              <a:spcAft>
                <a:spcPts val="700"/>
              </a:spcAft>
            </a:pPr>
            <a:r>
              <a:rPr sz="1400" b="1">
                <a:solidFill>
                  <a:srgbClr val="0F5C5C"/>
                </a:solidFill>
                <a:latin typeface="Arial"/>
              </a:rPr>
              <a:t>2  Model slots. </a:t>
            </a:r>
            <a:r>
              <a:rPr sz="1400" b="0">
                <a:solidFill>
                  <a:srgbClr val="1F1F1F"/>
                </a:solidFill>
                <a:latin typeface="Arial"/>
              </a:rPr>
              <a:t>The rest of the ten, ranked by expected ARR at risk. Each row shows its biggest behavioural reason, such as “support friction (90 days)”.</a:t>
            </a:r>
          </a:p>
          <a:p>
            <a:pPr algn="l">
              <a:spcAft>
                <a:spcPts val="700"/>
              </a:spcAft>
            </a:pPr>
            <a:r>
              <a:rPr sz="1400" b="1">
                <a:solidFill>
                  <a:srgbClr val="0F5C5C"/>
                </a:solidFill>
                <a:latin typeface="Arial"/>
              </a:rPr>
              <a:t>3  A draft, not an email. </a:t>
            </a:r>
            <a:r>
              <a:rPr sz="1400" b="0">
                <a:solidFill>
                  <a:srgbClr val="1F1F1F"/>
                </a:solidFill>
                <a:latin typeface="Arial"/>
              </a:rPr>
              <a:t>Every row has a play and a draft. Nothing goes to the customer until the CSM approves it, and the send is a dry run.</a:t>
            </a:r>
          </a:p>
          <a:p>
            <a:pPr algn="l">
              <a:spcAft>
                <a:spcPts val="650"/>
              </a:spcAft>
            </a:pPr>
            <a:r>
              <a:rPr sz="1300" b="0">
                <a:solidFill>
                  <a:srgbClr val="5A5A5A"/>
                </a:solidFill>
                <a:latin typeface="Arial"/>
              </a:rPr>
              <a:t>The list is frozen on Monday. New must-acts are added mid-week with a NEW mark; the list is never re-sorted.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How it decides: rules first, then the model</a:t>
            </a:r>
          </a:p>
        </p:txBody>
      </p:sp>
      <p:sp>
        <p:nvSpPr>
          <p:cNvPr id="4" name="Rectangle 3"/>
          <p:cNvSpPr/>
          <p:nvPr/>
        </p:nvSpPr>
        <p:spPr>
          <a:xfrm>
            <a:off x="685800" y="1463040"/>
            <a:ext cx="5760720" cy="118872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850"/>
              </a:spcAft>
            </a:pPr>
            <a:r>
              <a:rPr sz="1700" b="0">
                <a:solidFill>
                  <a:srgbClr val="0F5C5C"/>
                </a:solidFill>
                <a:latin typeface="Georgia"/>
              </a:rPr>
              <a:t>1  Must-act cases, all of them</a:t>
            </a:r>
          </a:p>
          <a:p>
            <a:pPr algn="l">
              <a:spcAft>
                <a:spcPts val="700"/>
              </a:spcAft>
            </a:pPr>
            <a:r>
              <a:rPr sz="1400" b="0">
                <a:solidFill>
                  <a:srgbClr val="1F1F1F"/>
                </a:solidFill>
                <a:latin typeface="Arial"/>
              </a:rPr>
              <a:t>Cancel announced, dunning exhausted, champion email bounced, urgent ticket stalled. Each has an SLA. More than K shows as overflow on the team page.</a:t>
            </a:r>
          </a:p>
        </p:txBody>
      </p:sp>
      <p:sp>
        <p:nvSpPr>
          <p:cNvPr id="5" name="Rectangle 4"/>
          <p:cNvSpPr/>
          <p:nvPr/>
        </p:nvSpPr>
        <p:spPr>
          <a:xfrm>
            <a:off x="685800" y="2834640"/>
            <a:ext cx="5760720" cy="118872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850"/>
              </a:spcAft>
            </a:pPr>
            <a:r>
              <a:rPr sz="1700" b="0">
                <a:solidFill>
                  <a:srgbClr val="0F5C5C"/>
                </a:solidFill>
                <a:latin typeface="Georgia"/>
              </a:rPr>
              <a:t>2  Up to two check-ins</a:t>
            </a:r>
          </a:p>
          <a:p>
            <a:pPr algn="l">
              <a:spcAft>
                <a:spcPts val="700"/>
              </a:spcAft>
            </a:pPr>
            <a:r>
              <a:rPr sz="1400" b="0">
                <a:solidFill>
                  <a:srgbClr val="1F1F1F"/>
                </a:solidFill>
                <a:latin typeface="Arial"/>
              </a:rPr>
              <a:t>Accounts with Unknown coverage whose term ends within 90 days.</a:t>
            </a:r>
          </a:p>
        </p:txBody>
      </p:sp>
      <p:sp>
        <p:nvSpPr>
          <p:cNvPr id="6" name="Rectangle 5"/>
          <p:cNvSpPr/>
          <p:nvPr/>
        </p:nvSpPr>
        <p:spPr>
          <a:xfrm>
            <a:off x="685800" y="4206240"/>
            <a:ext cx="5760720" cy="118872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850"/>
              </a:spcAft>
            </a:pPr>
            <a:r>
              <a:rPr sz="1700" b="0">
                <a:solidFill>
                  <a:srgbClr val="0F5C5C"/>
                </a:solidFill>
                <a:latin typeface="Georgia"/>
              </a:rPr>
              <a:t>3  Model slots, up to K = 10</a:t>
            </a:r>
          </a:p>
          <a:p>
            <a:pPr algn="l">
              <a:spcAft>
                <a:spcPts val="700"/>
              </a:spcAft>
            </a:pPr>
            <a:r>
              <a:rPr sz="1400" b="0">
                <a:solidFill>
                  <a:srgbClr val="1F1F1F"/>
                </a:solidFill>
                <a:latin typeface="Arial"/>
              </a:rPr>
              <a:t>Ranked by expected ARR at risk (p × ARR). A slot needs at least the tenant's mean expected ARR at risk.</a:t>
            </a:r>
          </a:p>
        </p:txBody>
      </p:sp>
      <p:sp>
        <p:nvSpPr>
          <p:cNvPr id="7" name="TextBox 6"/>
          <p:cNvSpPr txBox="1"/>
          <p:nvPr/>
        </p:nvSpPr>
        <p:spPr>
          <a:xfrm>
            <a:off x="6903720" y="1463040"/>
            <a:ext cx="4754880" cy="4846320"/>
          </a:xfrm>
          <a:prstGeom prst="rect">
            <a:avLst/>
          </a:prstGeom>
          <a:noFill/>
        </p:spPr>
        <p:txBody>
          <a:bodyPr wrap="square" anchor="t" lIns="109728" rIns="109728" tIns="54864" bIns="54864">
            <a:spAutoFit/>
          </a:bodyPr>
          <a:lstStyle/>
          <a:p>
            <a:pPr algn="l">
              <a:spcAft>
                <a:spcPts val="700"/>
              </a:spcAft>
            </a:pPr>
            <a:r>
              <a:rPr sz="1400" b="1">
                <a:solidFill>
                  <a:srgbClr val="5A5A5A"/>
                </a:solidFill>
                <a:latin typeface="Arial"/>
              </a:rPr>
              <a:t>Why the floor sits on the ranking key</a:t>
            </a:r>
          </a:p>
          <a:p>
            <a:pPr algn="l">
              <a:spcAft>
                <a:spcPts val="750"/>
              </a:spcAft>
            </a:pPr>
            <a:r>
              <a:rPr sz="1500" b="0">
                <a:solidFill>
                  <a:srgbClr val="1F1F1F"/>
                </a:solidFill>
                <a:latin typeface="Arial"/>
              </a:rPr>
              <a:t>Capacity is a cap, not a quota: a healthy book gets a shorter list.</a:t>
            </a:r>
          </a:p>
          <a:p>
            <a:pPr algn="l">
              <a:spcAft>
                <a:spcPts val="750"/>
              </a:spcAft>
            </a:pPr>
            <a:r>
              <a:rPr sz="1500" b="0">
                <a:solidFill>
                  <a:srgbClr val="1F1F1F"/>
                </a:solidFill>
                <a:latin typeface="Arial"/>
              </a:rPr>
              <a:t>Each list is a prefix of its book's ranking. The floor can shorten a list but never reorders it or swaps in a smaller account.</a:t>
            </a:r>
          </a:p>
          <a:p>
            <a:pPr algn="l">
              <a:spcAft>
                <a:spcPts val="750"/>
              </a:spcAft>
            </a:pPr>
            <a:r>
              <a:rPr sz="1500" b="0">
                <a:solidFill>
                  <a:srgbClr val="1F1F1F"/>
                </a:solidFill>
                <a:latin typeface="Arial"/>
              </a:rPr>
              <a:t>The cost: it catches more churned ARR but flags fewer small churners early. In tallyworks (before the lead-time fix), 70 of 174 decisions were flagged ahead, against 90 under a floor on p.</a:t>
            </a:r>
          </a:p>
          <a:p>
            <a:pPr algn="l">
              <a:spcAft>
                <a:spcPts val="750"/>
              </a:spcAft>
            </a:pPr>
            <a:r>
              <a:rPr sz="1500" b="0">
                <a:solidFill>
                  <a:srgbClr val="1F1F1F"/>
                </a:solidFill>
                <a:latin typeface="Arial"/>
              </a:rPr>
              <a:t>Small high-risk accounts still reach the CSM through the must-act rules and the Book page.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Every number traces back to the raw records</a:t>
            </a:r>
          </a:p>
        </p:txBody>
      </p:sp>
      <p:pic>
        <p:nvPicPr>
          <p:cNvPr id="4" name="Picture 3" descr="account.png"/>
          <p:cNvPicPr>
            <a:picLocks noChangeAspect="1"/>
          </p:cNvPicPr>
          <p:nvPr/>
        </p:nvPicPr>
        <p:blipFill>
          <a:blip r:embed="rId3"/>
          <a:srcRect l="8333" t="3448" r="7639" b="22414"/>
          <a:stretch>
            <a:fillRect/>
          </a:stretch>
        </p:blipFill>
        <p:spPr>
          <a:xfrm>
            <a:off x="685800" y="1280160"/>
            <a:ext cx="4937760" cy="5264223"/>
          </a:xfrm>
          <a:prstGeom prst="rect">
            <a:avLst/>
          </a:prstGeom>
          <a:ln>
            <a:solidFill>
              <a:srgbClr val="D9D4C7"/>
            </a:solidFill>
          </a:ln>
        </p:spPr>
      </p:pic>
      <p:pic>
        <p:nvPicPr>
          <p:cNvPr id="5" name="Picture 4" descr="trace.png"/>
          <p:cNvPicPr>
            <a:picLocks noChangeAspect="1"/>
          </p:cNvPicPr>
          <p:nvPr/>
        </p:nvPicPr>
        <p:blipFill>
          <a:blip r:embed="rId4"/>
          <a:srcRect l="8333" r="7639"/>
          <a:stretch>
            <a:fillRect/>
          </a:stretch>
        </p:blipFill>
        <p:spPr>
          <a:xfrm>
            <a:off x="5897880" y="1280160"/>
            <a:ext cx="5760720" cy="3665912"/>
          </a:xfrm>
          <a:prstGeom prst="rect">
            <a:avLst/>
          </a:prstGeom>
          <a:ln>
            <a:solidFill>
              <a:srgbClr val="D9D4C7"/>
            </a:solidFill>
          </a:ln>
        </p:spPr>
      </p:pic>
      <p:sp>
        <p:nvSpPr>
          <p:cNvPr id="6" name="TextBox 5"/>
          <p:cNvSpPr txBox="1"/>
          <p:nvPr/>
        </p:nvSpPr>
        <p:spPr>
          <a:xfrm>
            <a:off x="5897880" y="5029200"/>
            <a:ext cx="5760720" cy="1600200"/>
          </a:xfrm>
          <a:prstGeom prst="rect">
            <a:avLst/>
          </a:prstGeom>
          <a:noFill/>
        </p:spPr>
        <p:txBody>
          <a:bodyPr wrap="square" anchor="t" lIns="109728" rIns="109728" tIns="54864" bIns="54864">
            <a:spAutoFit/>
          </a:bodyPr>
          <a:lstStyle/>
          <a:p>
            <a:pPr algn="l">
              <a:spcAft>
                <a:spcPts val="700"/>
              </a:spcAft>
            </a:pPr>
            <a:r>
              <a:rPr sz="1400" b="1">
                <a:solidFill>
                  <a:srgbClr val="0F5C5C"/>
                </a:solidFill>
                <a:latin typeface="Arial"/>
              </a:rPr>
              <a:t>Why: </a:t>
            </a:r>
            <a:r>
              <a:rPr sz="1400" b="0">
                <a:solidFill>
                  <a:srgbClr val="1F1F1F"/>
                </a:solidFill>
                <a:latin typeface="Arial"/>
              </a:rPr>
              <a:t>contributions per feature in log-odds. They add up to the score's logit, checked on every stored score.</a:t>
            </a:r>
          </a:p>
          <a:p>
            <a:pPr algn="l">
              <a:spcAft>
                <a:spcPts val="700"/>
              </a:spcAft>
            </a:pPr>
            <a:r>
              <a:rPr sz="1400" b="1">
                <a:solidFill>
                  <a:srgbClr val="0F5C5C"/>
                </a:solidFill>
                <a:latin typeface="Arial"/>
              </a:rPr>
              <a:t>Trace: </a:t>
            </a:r>
            <a:r>
              <a:rPr sz="1400" b="0">
                <a:solidFill>
                  <a:srgbClr val="1F1F1F"/>
                </a:solidFill>
                <a:latin typeface="Arial"/>
              </a:rPr>
              <a:t>run, model version, as-of time, watermarks, a code hash per feature.</a:t>
            </a:r>
          </a:p>
          <a:p>
            <a:pPr algn="l">
              <a:spcAft>
                <a:spcPts val="700"/>
              </a:spcAft>
            </a:pPr>
            <a:r>
              <a:rPr sz="1400" b="1">
                <a:solidFill>
                  <a:srgbClr val="0F5C5C"/>
                </a:solidFill>
                <a:latin typeface="Arial"/>
              </a:rPr>
              <a:t>Recompute from raw: </a:t>
            </a:r>
            <a:r>
              <a:rPr sz="1400" b="0">
                <a:solidFill>
                  <a:srgbClr val="1F1F1F"/>
                </a:solidFill>
                <a:latin typeface="Arial"/>
              </a:rPr>
              <a:t>rebuilds features and p from stored events with the run's model. Result: match.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Does it work? More churned ARR on the lists</a:t>
            </a:r>
          </a:p>
        </p:txBody>
      </p:sp>
      <p:pic>
        <p:nvPicPr>
          <p:cNvPr id="4" name="Picture 3" descr="recall.png"/>
          <p:cNvPicPr>
            <a:picLocks noChangeAspect="1"/>
          </p:cNvPicPr>
          <p:nvPr/>
        </p:nvPicPr>
        <p:blipFill>
          <a:blip r:embed="rId3"/>
          <a:srcRect/>
          <a:stretch>
            <a:fillRect/>
          </a:stretch>
        </p:blipFill>
        <p:spPr>
          <a:xfrm>
            <a:off x="685800" y="1325880"/>
            <a:ext cx="6766560" cy="3518611"/>
          </a:xfrm>
          <a:prstGeom prst="rect">
            <a:avLst/>
          </a:prstGeom>
          <a:ln>
            <a:solidFill>
              <a:srgbClr val="D9D4C7"/>
            </a:solidFill>
          </a:ln>
        </p:spPr>
      </p:pic>
      <p:sp>
        <p:nvSpPr>
          <p:cNvPr id="5" name="TextBox 4"/>
          <p:cNvSpPr txBox="1"/>
          <p:nvPr/>
        </p:nvSpPr>
        <p:spPr>
          <a:xfrm>
            <a:off x="685800" y="4983480"/>
            <a:ext cx="6766560" cy="1463040"/>
          </a:xfrm>
          <a:prstGeom prst="rect">
            <a:avLst/>
          </a:prstGeom>
          <a:noFill/>
        </p:spPr>
        <p:txBody>
          <a:bodyPr wrap="square" anchor="t" lIns="109728" rIns="109728" tIns="54864" bIns="54864">
            <a:spAutoFit/>
          </a:bodyPr>
          <a:lstStyle/>
          <a:p>
            <a:pPr algn="l">
              <a:spcAft>
                <a:spcPts val="600"/>
              </a:spcAft>
            </a:pPr>
            <a:r>
              <a:rPr sz="1200" b="0">
                <a:solidFill>
                  <a:srgbClr val="5A5A5A"/>
                </a:solidFill>
                <a:latin typeface="Arial"/>
              </a:rPr>
              <a:t>Recall@K: share of churned ARR that was on a CSM's top-10 list that week. Point-in-time backtest, rolling origins, paired cluster bootstrap over accounts (1,000 resamples). Kitewire, onboarded this year, has no model yet.</a:t>
            </a:r>
          </a:p>
        </p:txBody>
      </p:sp>
      <p:sp>
        <p:nvSpPr>
          <p:cNvPr id="6" name="TextBox 5"/>
          <p:cNvSpPr txBox="1"/>
          <p:nvPr/>
        </p:nvSpPr>
        <p:spPr>
          <a:xfrm>
            <a:off x="7726680" y="1325880"/>
            <a:ext cx="4023360" cy="5120640"/>
          </a:xfrm>
          <a:prstGeom prst="rect">
            <a:avLst/>
          </a:prstGeom>
          <a:noFill/>
        </p:spPr>
        <p:txBody>
          <a:bodyPr wrap="square" anchor="t" lIns="109728" rIns="109728" tIns="54864" bIns="54864">
            <a:spAutoFit/>
          </a:bodyPr>
          <a:lstStyle/>
          <a:p>
            <a:pPr algn="l">
              <a:spcAft>
                <a:spcPts val="700"/>
              </a:spcAft>
            </a:pPr>
            <a:r>
              <a:rPr sz="1400" b="1">
                <a:solidFill>
                  <a:srgbClr val="0F5C5C"/>
                </a:solidFill>
                <a:latin typeface="Arial"/>
              </a:rPr>
              <a:t>hearthline: </a:t>
            </a:r>
            <a:r>
              <a:rPr sz="1400" b="0">
                <a:solidFill>
                  <a:srgbClr val="1F1F1F"/>
                </a:solidFill>
                <a:latin typeface="Arial"/>
              </a:rPr>
              <a:t>model 61.6% (53.1 to 68.1), rules 53.5%, renewal sort 14.7%. Model minus rules +8.1 points (+3.2 to +13.1).</a:t>
            </a:r>
          </a:p>
          <a:p>
            <a:pPr algn="l">
              <a:spcAft>
                <a:spcPts val="700"/>
              </a:spcAft>
            </a:pPr>
            <a:r>
              <a:rPr sz="1400" b="1">
                <a:solidFill>
                  <a:srgbClr val="0F5C5C"/>
                </a:solidFill>
                <a:latin typeface="Arial"/>
              </a:rPr>
              <a:t>tallyworks: </a:t>
            </a:r>
            <a:r>
              <a:rPr sz="1400" b="0">
                <a:solidFill>
                  <a:srgbClr val="1F1F1F"/>
                </a:solidFill>
                <a:latin typeface="Arial"/>
              </a:rPr>
              <a:t>model 59.6% (49.8 to 67.9), rules 49.7%, renewal sort 18.4%. Model minus rules +9.8 points (+2.1 to +18.2).</a:t>
            </a:r>
          </a:p>
          <a:p>
            <a:pPr algn="l">
              <a:spcAft>
                <a:spcPts val="700"/>
              </a:spcAft>
            </a:pPr>
            <a:r>
              <a:rPr sz="1400" b="1">
                <a:solidFill>
                  <a:srgbClr val="0F5C5C"/>
                </a:solidFill>
                <a:latin typeface="Arial"/>
              </a:rPr>
              <a:t>Renewal sort does worse than random in hearthline and no better than random in tallyworks, </a:t>
            </a:r>
            <a:r>
              <a:rPr sz="1400" b="0">
                <a:solidFill>
                  <a:srgbClr val="1F1F1F"/>
                </a:solidFill>
                <a:latin typeface="Arial"/>
              </a:rPr>
              <a:t>because accounts close to renewal have mostly announced their decision already and left the list.</a:t>
            </a:r>
          </a:p>
          <a:p>
            <a:pPr algn="l">
              <a:spcAft>
                <a:spcPts val="700"/>
              </a:spcAft>
            </a:pPr>
            <a:r>
              <a:rPr sz="1400" b="1">
                <a:solidFill>
                  <a:srgbClr val="0F5C5C"/>
                </a:solidFill>
                <a:latin typeface="Arial"/>
              </a:rPr>
              <a:t>The VP's two lost renewals: </a:t>
            </a:r>
            <a:r>
              <a:rPr sz="1400" b="0">
                <a:solidFill>
                  <a:srgbClr val="1F1F1F"/>
                </a:solidFill>
                <a:latin typeface="Arial"/>
              </a:rPr>
              <a:t>on the model's list 12 and 11 weeks before the decision; renewal sort found them 2 weeks and 1 week before.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Architecture: tenants kept apart by the database</a:t>
            </a:r>
          </a:p>
        </p:txBody>
      </p:sp>
      <p:sp>
        <p:nvSpPr>
          <p:cNvPr id="4" name="Rectangle 3"/>
          <p:cNvSpPr/>
          <p:nvPr/>
        </p:nvSpPr>
        <p:spPr>
          <a:xfrm>
            <a:off x="685800"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Sources</a:t>
            </a:r>
          </a:p>
          <a:p>
            <a:pPr algn="ctr">
              <a:spcAft>
                <a:spcPts val="550"/>
              </a:spcAft>
            </a:pPr>
            <a:r>
              <a:rPr sz="1100" b="0">
                <a:solidFill>
                  <a:srgbClr val="1F1F1F"/>
                </a:solidFill>
                <a:latin typeface="Arial"/>
              </a:rPr>
              <a:t>Salesforce, Stripe, Zendesk, Gmail metadata, product</a:t>
            </a:r>
          </a:p>
        </p:txBody>
      </p:sp>
      <p:sp>
        <p:nvSpPr>
          <p:cNvPr id="5" name="Right Arrow 4"/>
          <p:cNvSpPr/>
          <p:nvPr/>
        </p:nvSpPr>
        <p:spPr>
          <a:xfrm>
            <a:off x="1819656" y="2286000"/>
            <a:ext cx="201168" cy="219456"/>
          </a:xfrm>
          <a:prstGeom prst="rightArrow">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66544"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raw_records</a:t>
            </a:r>
          </a:p>
          <a:p>
            <a:pPr algn="ctr">
              <a:spcAft>
                <a:spcPts val="550"/>
              </a:spcAft>
            </a:pPr>
            <a:r>
              <a:rPr sz="1100" b="0">
                <a:solidFill>
                  <a:srgbClr val="1F1F1F"/>
                </a:solidFill>
                <a:latin typeface="Arial"/>
              </a:rPr>
              <a:t>immutable ledger, one row per source record</a:t>
            </a:r>
          </a:p>
        </p:txBody>
      </p:sp>
      <p:sp>
        <p:nvSpPr>
          <p:cNvPr id="7" name="Right Arrow 6"/>
          <p:cNvSpPr/>
          <p:nvPr/>
        </p:nvSpPr>
        <p:spPr>
          <a:xfrm>
            <a:off x="3200400" y="2286000"/>
            <a:ext cx="201168" cy="219456"/>
          </a:xfrm>
          <a:prstGeom prst="rightArrow">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47288"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events</a:t>
            </a:r>
          </a:p>
          <a:p>
            <a:pPr algn="ctr">
              <a:spcAft>
                <a:spcPts val="550"/>
              </a:spcAft>
            </a:pPr>
            <a:r>
              <a:rPr sz="1100" b="0">
                <a:solidFill>
                  <a:srgbClr val="1F1F1F"/>
                </a:solidFill>
                <a:latin typeface="Arial"/>
              </a:rPr>
              <a:t>two clocks: occurred_at and available_at</a:t>
            </a:r>
          </a:p>
        </p:txBody>
      </p:sp>
      <p:sp>
        <p:nvSpPr>
          <p:cNvPr id="9" name="Right Arrow 8"/>
          <p:cNvSpPr/>
          <p:nvPr/>
        </p:nvSpPr>
        <p:spPr>
          <a:xfrm>
            <a:off x="4581144" y="2286000"/>
            <a:ext cx="201168" cy="219456"/>
          </a:xfrm>
          <a:prstGeom prst="rightArrow">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28032"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identity</a:t>
            </a:r>
          </a:p>
          <a:p>
            <a:pPr algn="ctr">
              <a:spcAft>
                <a:spcPts val="550"/>
              </a:spcAft>
            </a:pPr>
            <a:r>
              <a:rPr sz="1100" b="0">
                <a:solidFill>
                  <a:srgbClr val="1F1F1F"/>
                </a:solidFill>
                <a:latin typeface="Arial"/>
              </a:rPr>
              <a:t>exact keys only; links are append-only</a:t>
            </a:r>
          </a:p>
        </p:txBody>
      </p:sp>
      <p:sp>
        <p:nvSpPr>
          <p:cNvPr id="11" name="Right Arrow 10"/>
          <p:cNvSpPr/>
          <p:nvPr/>
        </p:nvSpPr>
        <p:spPr>
          <a:xfrm>
            <a:off x="5961888" y="2286000"/>
            <a:ext cx="201168" cy="219456"/>
          </a:xfrm>
          <a:prstGeom prst="rightArrow">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features</a:t>
            </a:r>
          </a:p>
          <a:p>
            <a:pPr algn="ctr">
              <a:spcAft>
                <a:spcPts val="550"/>
              </a:spcAft>
            </a:pPr>
            <a:r>
              <a:rPr sz="1100" b="0">
                <a:solidFill>
                  <a:srgbClr val="1F1F1F"/>
                </a:solidFill>
                <a:latin typeface="Arial"/>
              </a:rPr>
              <a:t>13, read as of T</a:t>
            </a:r>
          </a:p>
        </p:txBody>
      </p:sp>
      <p:sp>
        <p:nvSpPr>
          <p:cNvPr id="13" name="Right Arrow 12"/>
          <p:cNvSpPr/>
          <p:nvPr/>
        </p:nvSpPr>
        <p:spPr>
          <a:xfrm>
            <a:off x="7342632" y="2286000"/>
            <a:ext cx="201168" cy="219456"/>
          </a:xfrm>
          <a:prstGeom prst="rightArrow">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0"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model</a:t>
            </a:r>
          </a:p>
          <a:p>
            <a:pPr algn="ctr">
              <a:spcAft>
                <a:spcPts val="550"/>
              </a:spcAft>
            </a:pPr>
            <a:r>
              <a:rPr sz="1100" b="0">
                <a:solidFill>
                  <a:srgbClr val="1F1F1F"/>
                </a:solidFill>
                <a:latin typeface="Arial"/>
              </a:rPr>
              <a:t>logistic regression per tenant, JSON artifact</a:t>
            </a:r>
          </a:p>
        </p:txBody>
      </p:sp>
      <p:sp>
        <p:nvSpPr>
          <p:cNvPr id="15" name="Right Arrow 14"/>
          <p:cNvSpPr/>
          <p:nvPr/>
        </p:nvSpPr>
        <p:spPr>
          <a:xfrm>
            <a:off x="8723376" y="2286000"/>
            <a:ext cx="201168" cy="219456"/>
          </a:xfrm>
          <a:prstGeom prst="rightArrow">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70264"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policy</a:t>
            </a:r>
          </a:p>
          <a:p>
            <a:pPr algn="ctr">
              <a:spcAft>
                <a:spcPts val="550"/>
              </a:spcAft>
            </a:pPr>
            <a:r>
              <a:rPr sz="1100" b="0">
                <a:solidFill>
                  <a:srgbClr val="1F1F1F"/>
                </a:solidFill>
                <a:latin typeface="Arial"/>
              </a:rPr>
              <a:t>must-acts, check-ins, model slots</a:t>
            </a:r>
          </a:p>
        </p:txBody>
      </p:sp>
      <p:sp>
        <p:nvSpPr>
          <p:cNvPr id="17" name="Right Arrow 16"/>
          <p:cNvSpPr/>
          <p:nvPr/>
        </p:nvSpPr>
        <p:spPr>
          <a:xfrm>
            <a:off x="10104120" y="2286000"/>
            <a:ext cx="201168" cy="219456"/>
          </a:xfrm>
          <a:prstGeom prst="rightArrow">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51008" y="1600200"/>
            <a:ext cx="1088136" cy="160020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700"/>
              </a:spcAft>
            </a:pPr>
            <a:r>
              <a:rPr sz="1400" b="1">
                <a:solidFill>
                  <a:srgbClr val="0F5C5C"/>
                </a:solidFill>
                <a:latin typeface="Arial"/>
              </a:rPr>
              <a:t>worklist</a:t>
            </a:r>
          </a:p>
          <a:p>
            <a:pPr algn="ctr">
              <a:spcAft>
                <a:spcPts val="550"/>
              </a:spcAft>
            </a:pPr>
            <a:r>
              <a:rPr sz="1100" b="0">
                <a:solidFill>
                  <a:srgbClr val="1F1F1F"/>
                </a:solidFill>
                <a:latin typeface="Arial"/>
              </a:rPr>
              <a:t>frozen each Monday</a:t>
            </a:r>
          </a:p>
        </p:txBody>
      </p:sp>
      <p:sp>
        <p:nvSpPr>
          <p:cNvPr id="19" name="TextBox 18"/>
          <p:cNvSpPr txBox="1"/>
          <p:nvPr/>
        </p:nvSpPr>
        <p:spPr>
          <a:xfrm>
            <a:off x="685800" y="3657600"/>
            <a:ext cx="3383280" cy="2651760"/>
          </a:xfrm>
          <a:prstGeom prst="rect">
            <a:avLst/>
          </a:prstGeom>
          <a:noFill/>
        </p:spPr>
        <p:txBody>
          <a:bodyPr wrap="square" anchor="t" lIns="109728" rIns="109728" tIns="54864" bIns="54864">
            <a:spAutoFit/>
          </a:bodyPr>
          <a:lstStyle/>
          <a:p>
            <a:pPr algn="l">
              <a:spcAft>
                <a:spcPts val="800"/>
              </a:spcAft>
            </a:pPr>
            <a:r>
              <a:rPr sz="1600" b="0">
                <a:solidFill>
                  <a:srgbClr val="0F5C5C"/>
                </a:solidFill>
                <a:latin typeface="Georgia"/>
              </a:rPr>
              <a:t>As-of everywhere</a:t>
            </a:r>
          </a:p>
          <a:p>
            <a:pPr algn="l">
              <a:spcAft>
                <a:spcPts val="700"/>
              </a:spcAft>
            </a:pPr>
            <a:r>
              <a:rPr sz="1400" b="0">
                <a:solidFill>
                  <a:srgbClr val="1F1F1F"/>
                </a:solidFill>
                <a:latin typeface="Arial"/>
              </a:rPr>
              <a:t>A record is visible at T only if available_at ≤ T and occurred_at ≤ T. Training, scoring, evidence and the trace use the same rule.</a:t>
            </a:r>
          </a:p>
        </p:txBody>
      </p:sp>
      <p:sp>
        <p:nvSpPr>
          <p:cNvPr id="20" name="TextBox 19"/>
          <p:cNvSpPr txBox="1"/>
          <p:nvPr/>
        </p:nvSpPr>
        <p:spPr>
          <a:xfrm>
            <a:off x="4343400" y="3657600"/>
            <a:ext cx="3383280" cy="2651760"/>
          </a:xfrm>
          <a:prstGeom prst="rect">
            <a:avLst/>
          </a:prstGeom>
          <a:noFill/>
        </p:spPr>
        <p:txBody>
          <a:bodyPr wrap="square" anchor="t" lIns="109728" rIns="109728" tIns="54864" bIns="54864">
            <a:spAutoFit/>
          </a:bodyPr>
          <a:lstStyle/>
          <a:p>
            <a:pPr algn="l">
              <a:spcAft>
                <a:spcPts val="800"/>
              </a:spcAft>
            </a:pPr>
            <a:r>
              <a:rPr sz="1600" b="0">
                <a:solidFill>
                  <a:srgbClr val="B3261E"/>
                </a:solidFill>
                <a:latin typeface="Georgia"/>
              </a:rPr>
              <a:t>Tenant isolation in Postgres</a:t>
            </a:r>
          </a:p>
          <a:p>
            <a:pPr algn="l">
              <a:spcAft>
                <a:spcPts val="700"/>
              </a:spcAft>
            </a:pPr>
            <a:r>
              <a:rPr sz="1400" b="0">
                <a:solidFill>
                  <a:srgbClr val="1F1F1F"/>
                </a:solidFill>
                <a:latin typeface="Arial"/>
              </a:rPr>
              <a:t>Every tenant table has FORCE row-level security on tenant_id. The app roles are NOBYPASSRLS and own nothing; the app refuses to start with an owner DSN.</a:t>
            </a:r>
          </a:p>
        </p:txBody>
      </p:sp>
      <p:sp>
        <p:nvSpPr>
          <p:cNvPr id="21" name="TextBox 20"/>
          <p:cNvSpPr txBox="1"/>
          <p:nvPr/>
        </p:nvSpPr>
        <p:spPr>
          <a:xfrm>
            <a:off x="8001000" y="3657600"/>
            <a:ext cx="3383280" cy="2651760"/>
          </a:xfrm>
          <a:prstGeom prst="rect">
            <a:avLst/>
          </a:prstGeom>
          <a:noFill/>
        </p:spPr>
        <p:txBody>
          <a:bodyPr wrap="square" anchor="t" lIns="109728" rIns="109728" tIns="54864" bIns="54864">
            <a:spAutoFit/>
          </a:bodyPr>
          <a:lstStyle/>
          <a:p>
            <a:pPr algn="l">
              <a:spcAft>
                <a:spcPts val="800"/>
              </a:spcAft>
            </a:pPr>
            <a:r>
              <a:rPr sz="1600" b="0">
                <a:solidFill>
                  <a:srgbClr val="0F5C5C"/>
                </a:solidFill>
                <a:latin typeface="Georgia"/>
              </a:rPr>
              <a:t>A model per tenant</a:t>
            </a:r>
          </a:p>
          <a:p>
            <a:pPr algn="l">
              <a:spcAft>
                <a:spcPts val="700"/>
              </a:spcAft>
            </a:pPr>
            <a:r>
              <a:rPr sz="1400" b="0">
                <a:solidFill>
                  <a:srgbClr val="1F1F1F"/>
                </a:solidFill>
                <a:latin typeface="Arial"/>
              </a:rPr>
              <a:t>Each tenant's model is fitted on its own history. Kitewire, onboarded this year, starts cold on the rules alone.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An unattended agent, and a human on every email</a:t>
            </a:r>
          </a:p>
        </p:txBody>
      </p:sp>
      <p:sp>
        <p:nvSpPr>
          <p:cNvPr id="4" name="TextBox 3"/>
          <p:cNvSpPr txBox="1"/>
          <p:nvPr/>
        </p:nvSpPr>
        <p:spPr>
          <a:xfrm>
            <a:off x="685800" y="1417320"/>
            <a:ext cx="5303520" cy="457200"/>
          </a:xfrm>
          <a:prstGeom prst="rect">
            <a:avLst/>
          </a:prstGeom>
          <a:noFill/>
        </p:spPr>
        <p:txBody>
          <a:bodyPr wrap="square" anchor="t" lIns="109728" rIns="109728" tIns="54864" bIns="54864">
            <a:spAutoFit/>
          </a:bodyPr>
          <a:lstStyle/>
          <a:p>
            <a:pPr algn="l">
              <a:spcAft>
                <a:spcPts val="700"/>
              </a:spcAft>
            </a:pPr>
            <a:r>
              <a:rPr sz="1400" b="1">
                <a:solidFill>
                  <a:srgbClr val="5A5A5A"/>
                </a:solidFill>
                <a:latin typeface="Arial"/>
              </a:rPr>
              <a:t>What runs unattended</a:t>
            </a:r>
          </a:p>
        </p:txBody>
      </p:sp>
      <p:sp>
        <p:nvSpPr>
          <p:cNvPr id="5" name="TextBox 4"/>
          <p:cNvSpPr txBox="1"/>
          <p:nvPr/>
        </p:nvSpPr>
        <p:spPr>
          <a:xfrm>
            <a:off x="685800" y="1828800"/>
            <a:ext cx="5303520" cy="4572000"/>
          </a:xfrm>
          <a:prstGeom prst="rect">
            <a:avLst/>
          </a:prstGeom>
          <a:noFill/>
        </p:spPr>
        <p:txBody>
          <a:bodyPr wrap="square" anchor="t" lIns="109728" rIns="109728" tIns="54864" bIns="54864">
            <a:spAutoFit/>
          </a:bodyPr>
          <a:lstStyle/>
          <a:p>
            <a:pPr algn="l">
              <a:spcAft>
                <a:spcPts val="700"/>
              </a:spcAft>
            </a:pPr>
            <a:r>
              <a:rPr sz="1400" b="1">
                <a:solidFill>
                  <a:srgbClr val="0F5C5C"/>
                </a:solidFill>
                <a:latin typeface="Arial"/>
              </a:rPr>
              <a:t>Event-driven rules. </a:t>
            </a:r>
            <a:r>
              <a:rPr sz="1400" b="0">
                <a:solidFill>
                  <a:srgbClr val="1F1F1F"/>
                </a:solidFill>
                <a:latin typeface="Arial"/>
              </a:rPr>
              <a:t>A payment failure, subscription change, ticket change or bounce queues a rule check in the same transaction. A must-act case opens at the next worker tick.</a:t>
            </a:r>
          </a:p>
          <a:p>
            <a:pPr algn="l">
              <a:spcAft>
                <a:spcPts val="700"/>
              </a:spcAft>
            </a:pPr>
            <a:r>
              <a:rPr sz="1400" b="1">
                <a:solidFill>
                  <a:srgbClr val="0F5C5C"/>
                </a:solidFill>
                <a:latin typeface="Arial"/>
              </a:rPr>
              <a:t>Daily sweep </a:t>
            </a:r>
            <a:r>
              <a:rPr sz="1400" b="0">
                <a:solidFill>
                  <a:srgbClr val="1F1F1F"/>
                </a:solidFill>
                <a:latin typeface="Arial"/>
              </a:rPr>
              <a:t>at 06:00 tenant time: score every account, recheck every rule.</a:t>
            </a:r>
          </a:p>
          <a:p>
            <a:pPr algn="l">
              <a:spcAft>
                <a:spcPts val="700"/>
              </a:spcAft>
            </a:pPr>
            <a:r>
              <a:rPr sz="1400" b="1">
                <a:solidFill>
                  <a:srgbClr val="0F5C5C"/>
                </a:solidFill>
                <a:latin typeface="Arial"/>
              </a:rPr>
              <a:t>Monday freeze: </a:t>
            </a:r>
            <a:r>
              <a:rPr sz="1400" b="0">
                <a:solidFill>
                  <a:srgbClr val="1F1F1F"/>
                </a:solidFill>
                <a:latin typeface="Arial"/>
              </a:rPr>
              <a:t>lock each list, open cases, write briefs and digests.</a:t>
            </a:r>
          </a:p>
          <a:p>
            <a:pPr algn="l">
              <a:spcAft>
                <a:spcPts val="700"/>
              </a:spcAft>
            </a:pPr>
            <a:r>
              <a:rPr sz="1400" b="1">
                <a:solidFill>
                  <a:srgbClr val="0F5C5C"/>
                </a:solidFill>
                <a:latin typeface="Arial"/>
              </a:rPr>
              <a:t>SLA escalation: </a:t>
            </a:r>
            <a:r>
              <a:rPr sz="1400" b="0">
                <a:solidFill>
                  <a:srgbClr val="1F1F1F"/>
                </a:solidFill>
                <a:latin typeface="Arial"/>
              </a:rPr>
              <a:t>an hourly check sends each overdue case to the manager, once.</a:t>
            </a:r>
          </a:p>
          <a:p>
            <a:pPr algn="l">
              <a:spcAft>
                <a:spcPts val="700"/>
              </a:spcAft>
            </a:pPr>
            <a:r>
              <a:rPr sz="1400" b="1">
                <a:solidFill>
                  <a:srgbClr val="0F5C5C"/>
                </a:solidFill>
                <a:latin typeface="Arial"/>
              </a:rPr>
              <a:t>Circuit breaker: </a:t>
            </a:r>
            <a:r>
              <a:rPr sz="1400" b="0">
                <a:solidFill>
                  <a:srgbClr val="1F1F1F"/>
                </a:solidFill>
                <a:latin typeface="Arial"/>
              </a:rPr>
              <a:t>a burst of new cases is held behind one incident, so a late batch can't become hundreds of alerts.</a:t>
            </a:r>
          </a:p>
        </p:txBody>
      </p:sp>
      <p:sp>
        <p:nvSpPr>
          <p:cNvPr id="6" name="TextBox 5"/>
          <p:cNvSpPr txBox="1"/>
          <p:nvPr/>
        </p:nvSpPr>
        <p:spPr>
          <a:xfrm>
            <a:off x="6446520" y="1417320"/>
            <a:ext cx="5120640" cy="457200"/>
          </a:xfrm>
          <a:prstGeom prst="rect">
            <a:avLst/>
          </a:prstGeom>
          <a:noFill/>
        </p:spPr>
        <p:txBody>
          <a:bodyPr wrap="square" anchor="t" lIns="109728" rIns="109728" tIns="54864" bIns="54864">
            <a:spAutoFit/>
          </a:bodyPr>
          <a:lstStyle/>
          <a:p>
            <a:pPr algn="l">
              <a:spcAft>
                <a:spcPts val="700"/>
              </a:spcAft>
            </a:pPr>
            <a:r>
              <a:rPr sz="1400" b="1">
                <a:solidFill>
                  <a:srgbClr val="5A5A5A"/>
                </a:solidFill>
                <a:latin typeface="Arial"/>
              </a:rPr>
              <a:t>Guardrails on the LLM</a:t>
            </a:r>
          </a:p>
        </p:txBody>
      </p:sp>
      <p:sp>
        <p:nvSpPr>
          <p:cNvPr id="7" name="Rectangle 6"/>
          <p:cNvSpPr/>
          <p:nvPr/>
        </p:nvSpPr>
        <p:spPr>
          <a:xfrm>
            <a:off x="6446520" y="1828800"/>
            <a:ext cx="5120640" cy="283464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700"/>
              </a:spcAft>
            </a:pPr>
            <a:r>
              <a:rPr sz="1400" b="1">
                <a:solidFill>
                  <a:srgbClr val="0F5C5C"/>
                </a:solidFill>
                <a:latin typeface="Arial"/>
              </a:rPr>
              <a:t>Words only. </a:t>
            </a:r>
            <a:r>
              <a:rPr sz="1400" b="0">
                <a:solidFill>
                  <a:srgbClr val="1F1F1F"/>
                </a:solidFill>
                <a:latin typeface="Arial"/>
              </a:rPr>
              <a:t>The LLM never scores, ranks, picks the recipient or picks the play. Code does.</a:t>
            </a:r>
          </a:p>
          <a:p>
            <a:pPr algn="l">
              <a:spcAft>
                <a:spcPts val="700"/>
              </a:spcAft>
            </a:pPr>
            <a:r>
              <a:rPr sz="1400" b="1">
                <a:solidFill>
                  <a:srgbClr val="0F5C5C"/>
                </a:solidFill>
                <a:latin typeface="Arial"/>
              </a:rPr>
              <a:t>A deterministic validator. </a:t>
            </a:r>
            <a:r>
              <a:rPr sz="1400" b="0">
                <a:solidFill>
                  <a:srgbClr val="1F1F1F"/>
                </a:solidFill>
                <a:latin typeface="Arial"/>
              </a:rPr>
              <a:t>Every number must appear in the cited evidence; no banned words (churn, risk, discount); no URLs or addresses in the email.</a:t>
            </a:r>
          </a:p>
          <a:p>
            <a:pPr algn="l">
              <a:spcAft>
                <a:spcPts val="700"/>
              </a:spcAft>
            </a:pPr>
            <a:r>
              <a:rPr sz="1400" b="1">
                <a:solidFill>
                  <a:srgbClr val="0F5C5C"/>
                </a:solidFill>
                <a:latin typeface="Arial"/>
              </a:rPr>
              <a:t>Template fallback. </a:t>
            </a:r>
            <a:r>
              <a:rPr sz="1400" b="0">
                <a:solidFill>
                  <a:srgbClr val="1F1F1F"/>
                </a:solidFill>
                <a:latin typeface="Arial"/>
              </a:rPr>
              <a:t>One retry with the errors, then a fixed template. No key or no budget means the template.</a:t>
            </a:r>
          </a:p>
          <a:p>
            <a:pPr algn="l">
              <a:spcAft>
                <a:spcPts val="700"/>
              </a:spcAft>
            </a:pPr>
            <a:r>
              <a:rPr sz="1400" b="1">
                <a:solidFill>
                  <a:srgbClr val="0F5C5C"/>
                </a:solidFill>
                <a:latin typeface="Arial"/>
              </a:rPr>
              <a:t>Drafts only. </a:t>
            </a:r>
            <a:r>
              <a:rPr sz="1400" b="0">
                <a:solidFill>
                  <a:srgbClr val="1F1F1F"/>
                </a:solidFill>
                <a:latin typeface="Arial"/>
              </a:rPr>
              <a:t>Every customer email waits in the outbox until a CSM approves it. The transport is a dry run and the deploy has no SMTP credentials.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What breaks first at 10x</a:t>
            </a:r>
          </a:p>
        </p:txBody>
      </p:sp>
      <p:sp>
        <p:nvSpPr>
          <p:cNvPr id="4" name="Rectangle 3"/>
          <p:cNvSpPr/>
          <p:nvPr/>
        </p:nvSpPr>
        <p:spPr>
          <a:xfrm>
            <a:off x="685800" y="1371600"/>
            <a:ext cx="10972800" cy="150876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850"/>
              </a:spcAft>
            </a:pPr>
            <a:r>
              <a:rPr sz="1700" b="0">
                <a:solidFill>
                  <a:srgbClr val="B3261E"/>
                </a:solidFill>
                <a:latin typeface="Georgia"/>
              </a:rPr>
              <a:t>1  Neon Free storage, at about 1.7x</a:t>
            </a:r>
          </a:p>
          <a:p>
            <a:pPr algn="l">
              <a:spcAft>
                <a:spcPts val="700"/>
              </a:spcAft>
            </a:pPr>
            <a:r>
              <a:rPr sz="1400" b="1">
                <a:solidFill>
                  <a:srgbClr val="0F5C5C"/>
                </a:solidFill>
                <a:latin typeface="Arial"/>
              </a:rPr>
              <a:t>Limit: </a:t>
            </a:r>
            <a:r>
              <a:rPr sz="1400" b="0">
                <a:solidFill>
                  <a:srgbClr val="1F1F1F"/>
                </a:solidFill>
                <a:latin typeface="Arial"/>
              </a:rPr>
              <a:t>584.4 MB at 1x against a 1 GB limit; about 5.7 GB at 10x (projected).</a:t>
            </a:r>
          </a:p>
          <a:p>
            <a:pPr algn="l">
              <a:spcAft>
                <a:spcPts val="700"/>
              </a:spcAft>
            </a:pPr>
            <a:r>
              <a:rPr sz="1400" b="1">
                <a:solidFill>
                  <a:srgbClr val="0F5C5C"/>
                </a:solidFill>
                <a:latin typeface="Arial"/>
              </a:rPr>
              <a:t>Fix: </a:t>
            </a:r>
            <a:r>
              <a:rPr sz="1400" b="0">
                <a:solidFill>
                  <a:srgbClr val="1F1F1F"/>
                </a:solidFill>
                <a:latin typeface="Arial"/>
              </a:rPr>
              <a:t>Prune on a schedule, drop the demo feed buffer, then a paid tier with raw_records and events partitioned by month.</a:t>
            </a:r>
          </a:p>
        </p:txBody>
      </p:sp>
      <p:sp>
        <p:nvSpPr>
          <p:cNvPr id="5" name="Rectangle 4"/>
          <p:cNvSpPr/>
          <p:nvPr/>
        </p:nvSpPr>
        <p:spPr>
          <a:xfrm>
            <a:off x="685800" y="3017520"/>
            <a:ext cx="10972800" cy="150876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850"/>
              </a:spcAft>
            </a:pPr>
            <a:r>
              <a:rPr sz="1700" b="0">
                <a:solidFill>
                  <a:srgbClr val="B3261E"/>
                </a:solidFill>
                <a:latin typeface="Georgia"/>
              </a:rPr>
              <a:t>2  Worker memory, at about 2.9x hearthline</a:t>
            </a:r>
          </a:p>
          <a:p>
            <a:pPr algn="l">
              <a:spcAft>
                <a:spcPts val="700"/>
              </a:spcAft>
            </a:pPr>
            <a:r>
              <a:rPr sz="1400" b="1">
                <a:solidFill>
                  <a:srgbClr val="0F5C5C"/>
                </a:solidFill>
                <a:latin typeface="Arial"/>
              </a:rPr>
              <a:t>Limit: </a:t>
            </a:r>
            <a:r>
              <a:rPr sz="1400" b="0">
                <a:solidFill>
                  <a:srgbClr val="1F1F1F"/>
                </a:solidFill>
                <a:latin typeface="Arial"/>
              </a:rPr>
              <a:t>Each job loads the tenant's whole history: 5.0 KB per event. Vercel Hobby's 2 GB is reached at about 400,000 events; 10x hearthline needs about 6,900 MiB.</a:t>
            </a:r>
          </a:p>
          <a:p>
            <a:pPr algn="l">
              <a:spcAft>
                <a:spcPts val="700"/>
              </a:spcAft>
            </a:pPr>
            <a:r>
              <a:rPr sz="1400" b="1">
                <a:solidFill>
                  <a:srgbClr val="0F5C5C"/>
                </a:solidFill>
                <a:latin typeface="Arial"/>
              </a:rPr>
              <a:t>Fix: </a:t>
            </a:r>
            <a:r>
              <a:rPr sz="1400" b="0">
                <a:solidFill>
                  <a:srgbClr val="1F1F1F"/>
                </a:solidFill>
                <a:latin typeface="Arial"/>
              </a:rPr>
              <a:t>Read events straight into columns, only rows visible at T, and scope each rule check to its one account.</a:t>
            </a:r>
          </a:p>
        </p:txBody>
      </p:sp>
      <p:sp>
        <p:nvSpPr>
          <p:cNvPr id="6" name="Rectangle 5"/>
          <p:cNvSpPr/>
          <p:nvPr/>
        </p:nvSpPr>
        <p:spPr>
          <a:xfrm>
            <a:off x="685800" y="4663440"/>
            <a:ext cx="10972800" cy="150876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850"/>
              </a:spcAft>
            </a:pPr>
            <a:r>
              <a:rPr sz="1700" b="0">
                <a:solidFill>
                  <a:srgbClr val="B3261E"/>
                </a:solidFill>
                <a:latin typeface="Georgia"/>
              </a:rPr>
              <a:t>3  The 60-second late-job window</a:t>
            </a:r>
          </a:p>
          <a:p>
            <a:pPr algn="l">
              <a:spcAft>
                <a:spcPts val="700"/>
              </a:spcAft>
            </a:pPr>
            <a:r>
              <a:rPr sz="1400" b="1">
                <a:solidFill>
                  <a:srgbClr val="0F5C5C"/>
                </a:solidFill>
                <a:latin typeface="Arial"/>
              </a:rPr>
              <a:t>Limit: </a:t>
            </a:r>
            <a:r>
              <a:rPr sz="1400" b="0">
                <a:solidFill>
                  <a:srgbClr val="1F1F1F"/>
                </a:solidFill>
                <a:latin typeface="Arial"/>
              </a:rPr>
              <a:t>A tick has a 240 s budget inside a 300 s function, so a job that starts late gets at most 60 s. An LLM brief must fit in that.</a:t>
            </a:r>
          </a:p>
          <a:p>
            <a:pPr algn="l">
              <a:spcAft>
                <a:spcPts val="700"/>
              </a:spcAft>
            </a:pPr>
            <a:r>
              <a:rPr sz="1400" b="1">
                <a:solidFill>
                  <a:srgbClr val="0F5C5C"/>
                </a:solidFill>
                <a:latin typeface="Arial"/>
              </a:rPr>
              <a:t>Fix: </a:t>
            </a:r>
            <a:r>
              <a:rPr sz="1400" b="0">
                <a:solidFill>
                  <a:srgbClr val="1F1F1F"/>
                </a:solidFill>
                <a:latin typeface="Arial"/>
              </a:rPr>
              <a:t>Pass the tick's deadline down and don't start a job whose recent p95 exceeds the time left. (The brief's evidence query already went from 3.75 s to 1 to 2 ms.)</a:t>
            </a:r>
          </a:p>
        </p:txBody>
      </p:sp>
      <p:sp>
        <p:nvSpPr>
          <p:cNvPr id="7" name="TextBox 6"/>
          <p:cNvSpPr txBox="1"/>
          <p:nvPr/>
        </p:nvSpPr>
        <p:spPr>
          <a:xfrm>
            <a:off x="685800" y="6309360"/>
            <a:ext cx="10972800" cy="411480"/>
          </a:xfrm>
          <a:prstGeom prst="rect">
            <a:avLst/>
          </a:prstGeom>
          <a:noFill/>
        </p:spPr>
        <p:txBody>
          <a:bodyPr wrap="square" anchor="t" lIns="109728" rIns="109728" tIns="54864" bIns="54864">
            <a:spAutoFit/>
          </a:bodyPr>
          <a:lstStyle/>
          <a:p>
            <a:pPr algn="l">
              <a:spcAft>
                <a:spcPts val="650"/>
              </a:spcAft>
            </a:pPr>
            <a:r>
              <a:rPr sz="1300" b="0">
                <a:solidFill>
                  <a:srgbClr val="5A5A5A"/>
                </a:solidFill>
                <a:latin typeface="Arial"/>
              </a:rPr>
              <a:t>The daily sweep does not break: about 30 s for hearthline at 10x, projected from 3.0 s at 1x.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365760" y="0"/>
            <a:ext cx="45720" cy="685800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957255" cy="822960"/>
          </a:xfrm>
          <a:prstGeom prst="rect">
            <a:avLst/>
          </a:prstGeom>
          <a:noFill/>
        </p:spPr>
        <p:txBody>
          <a:bodyPr wrap="square" anchor="t" lIns="109728" rIns="109728" tIns="54864" bIns="54864">
            <a:spAutoFit/>
          </a:bodyPr>
          <a:lstStyle/>
          <a:p>
            <a:pPr algn="l">
              <a:spcAft>
                <a:spcPts val="1400"/>
              </a:spcAft>
            </a:pPr>
            <a:r>
              <a:rPr sz="2800" b="0">
                <a:solidFill>
                  <a:srgbClr val="1F1F1F"/>
                </a:solidFill>
                <a:latin typeface="Georgia"/>
              </a:rPr>
              <a:t>What I would build next, and what I left out</a:t>
            </a:r>
          </a:p>
        </p:txBody>
      </p:sp>
      <p:sp>
        <p:nvSpPr>
          <p:cNvPr id="4" name="TextBox 3"/>
          <p:cNvSpPr txBox="1"/>
          <p:nvPr/>
        </p:nvSpPr>
        <p:spPr>
          <a:xfrm>
            <a:off x="685800" y="1417320"/>
            <a:ext cx="5303520" cy="4937760"/>
          </a:xfrm>
          <a:prstGeom prst="rect">
            <a:avLst/>
          </a:prstGeom>
          <a:noFill/>
        </p:spPr>
        <p:txBody>
          <a:bodyPr wrap="square" anchor="t" lIns="109728" rIns="109728" tIns="54864" bIns="54864">
            <a:spAutoFit/>
          </a:bodyPr>
          <a:lstStyle/>
          <a:p>
            <a:pPr algn="l">
              <a:spcAft>
                <a:spcPts val="900"/>
              </a:spcAft>
            </a:pPr>
            <a:r>
              <a:rPr sz="1800" b="0">
                <a:solidFill>
                  <a:srgbClr val="0F5C5C"/>
                </a:solidFill>
                <a:latin typeface="Georgia"/>
              </a:rPr>
              <a:t>Next</a:t>
            </a:r>
          </a:p>
          <a:p>
            <a:pPr algn="l">
              <a:spcAft>
                <a:spcPts val="700"/>
              </a:spcAft>
            </a:pPr>
            <a:r>
              <a:rPr sz="1400" b="1">
                <a:solidFill>
                  <a:srgbClr val="0F5C5C"/>
                </a:solidFill>
                <a:latin typeface="Arial"/>
              </a:rPr>
              <a:t>A six-week pilot </a:t>
            </a:r>
            <a:r>
              <a:rPr sz="1400" b="0">
                <a:solidFill>
                  <a:srgbClr val="1F1F1F"/>
                </a:solidFill>
                <a:latin typeface="Arial"/>
              </a:rPr>
              <a:t>with three CSMs and a manager, measured on cases handled on time and surprise churn: lost ARR that never appeared on its owner's list.</a:t>
            </a:r>
          </a:p>
          <a:p>
            <a:pPr algn="l">
              <a:spcAft>
                <a:spcPts val="700"/>
              </a:spcAft>
            </a:pPr>
            <a:r>
              <a:rPr sz="1400" b="1">
                <a:solidFill>
                  <a:srgbClr val="0F5C5C"/>
                </a:solidFill>
                <a:latin typeface="Arial"/>
              </a:rPr>
              <a:t>The 10x fixes: </a:t>
            </a:r>
            <a:r>
              <a:rPr sz="1400" b="0">
                <a:solidFill>
                  <a:srgbClr val="1F1F1F"/>
                </a:solidFill>
                <a:latin typeface="Arial"/>
              </a:rPr>
              <a:t>monthly partitions, columnar loads, a deadline-aware tick.</a:t>
            </a:r>
          </a:p>
          <a:p>
            <a:pPr algn="l">
              <a:spcAft>
                <a:spcPts val="700"/>
              </a:spcAft>
            </a:pPr>
            <a:r>
              <a:rPr sz="1400" b="1">
                <a:solidFill>
                  <a:srgbClr val="0F5C5C"/>
                </a:solidFill>
                <a:latin typeface="Arial"/>
              </a:rPr>
              <a:t>Auto-send, one play at a time, </a:t>
            </a:r>
            <a:r>
              <a:rPr sz="1400" b="0">
                <a:solidFill>
                  <a:srgbClr val="1F1F1F"/>
                </a:solidFill>
                <a:latin typeface="Arial"/>
              </a:rPr>
              <a:t>once CSMs send its drafts unedited about 80% of the time for a month.</a:t>
            </a:r>
          </a:p>
          <a:p>
            <a:pPr algn="l">
              <a:spcAft>
                <a:spcPts val="700"/>
              </a:spcAft>
            </a:pPr>
            <a:r>
              <a:rPr sz="1400" b="1">
                <a:solidFill>
                  <a:srgbClr val="0F5C5C"/>
                </a:solidFill>
                <a:latin typeface="Arial"/>
              </a:rPr>
              <a:t>Which plays work: </a:t>
            </a:r>
            <a:r>
              <a:rPr sz="1400" b="0">
                <a:solidFill>
                  <a:srgbClr val="1F1F1F"/>
                </a:solidFill>
                <a:latin typeface="Arial"/>
              </a:rPr>
              <a:t>exposure and outcomes are already logged, so an uplift model becomes possible.</a:t>
            </a:r>
          </a:p>
          <a:p>
            <a:pPr algn="l">
              <a:spcAft>
                <a:spcPts val="700"/>
              </a:spcAft>
            </a:pPr>
            <a:r>
              <a:rPr sz="1400" b="1">
                <a:solidFill>
                  <a:srgbClr val="0F5C5C"/>
                </a:solidFill>
                <a:latin typeface="Arial"/>
              </a:rPr>
              <a:t>Scheduled retraining </a:t>
            </a:r>
            <a:r>
              <a:rPr sz="1400" b="0">
                <a:solidFill>
                  <a:srgbClr val="1F1F1F"/>
                </a:solidFill>
                <a:latin typeface="Arial"/>
              </a:rPr>
              <a:t>behind the existing promotion gates.</a:t>
            </a:r>
          </a:p>
        </p:txBody>
      </p:sp>
      <p:sp>
        <p:nvSpPr>
          <p:cNvPr id="5" name="Rectangle 4"/>
          <p:cNvSpPr/>
          <p:nvPr/>
        </p:nvSpPr>
        <p:spPr>
          <a:xfrm>
            <a:off x="6446520" y="1417320"/>
            <a:ext cx="5120640" cy="3108960"/>
          </a:xfrm>
          <a:prstGeom prst="rect">
            <a:avLst/>
          </a:prstGeom>
          <a:solidFill>
            <a:srgbClr val="FFFDF8"/>
          </a:solidFill>
          <a:ln>
            <a:solidFill>
              <a:srgbClr val="D9D4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spcAft>
                <a:spcPts val="900"/>
              </a:spcAft>
            </a:pPr>
            <a:r>
              <a:rPr sz="1800" b="0">
                <a:solidFill>
                  <a:srgbClr val="B3261E"/>
                </a:solidFill>
                <a:latin typeface="Georgia"/>
              </a:rPr>
              <a:t>Left out on purpose</a:t>
            </a:r>
          </a:p>
          <a:p>
            <a:pPr algn="l">
              <a:spcAft>
                <a:spcPts val="700"/>
              </a:spcAft>
            </a:pPr>
            <a:r>
              <a:rPr sz="1400" b="1">
                <a:solidFill>
                  <a:srgbClr val="0F5C5C"/>
                </a:solidFill>
                <a:latin typeface="Arial"/>
              </a:rPr>
              <a:t>Real vendor integrations and real sending. </a:t>
            </a:r>
            <a:r>
              <a:rPr sz="1400" b="0">
                <a:solidFill>
                  <a:srgbClr val="1F1F1F"/>
                </a:solidFill>
                <a:latin typeface="Arial"/>
              </a:rPr>
              <a:t>A simulated feed uses the same ingestion entrypoint as the webhooks.</a:t>
            </a:r>
          </a:p>
          <a:p>
            <a:pPr algn="l">
              <a:spcAft>
                <a:spcPts val="700"/>
              </a:spcAft>
            </a:pPr>
            <a:r>
              <a:rPr sz="1400" b="1">
                <a:solidFill>
                  <a:srgbClr val="0F5C5C"/>
                </a:solidFill>
                <a:latin typeface="Arial"/>
              </a:rPr>
              <a:t>Reading Gmail bodies. </a:t>
            </a:r>
            <a:r>
              <a:rPr sz="1400" b="0">
                <a:solidFill>
                  <a:srgbClr val="1F1F1F"/>
                </a:solidFill>
                <a:latin typeface="Arial"/>
              </a:rPr>
              <a:t>Metadata only.</a:t>
            </a:r>
          </a:p>
          <a:p>
            <a:pPr algn="l">
              <a:spcAft>
                <a:spcPts val="700"/>
              </a:spcAft>
            </a:pPr>
            <a:r>
              <a:rPr sz="1400" b="1">
                <a:solidFill>
                  <a:srgbClr val="0F5C5C"/>
                </a:solidFill>
                <a:latin typeface="Arial"/>
              </a:rPr>
              <a:t>Fuzzy identity matching. </a:t>
            </a:r>
            <a:r>
              <a:rPr sz="1400" b="0">
                <a:solidFill>
                  <a:srgbClr val="1F1F1F"/>
                </a:solidFill>
                <a:latin typeface="Arial"/>
              </a:rPr>
              <a:t>A missing match is visible and fixable; a wrong one leaks one customer's data into another's email.</a:t>
            </a:r>
          </a:p>
          <a:p>
            <a:pPr algn="l">
              <a:spcAft>
                <a:spcPts val="700"/>
              </a:spcAft>
            </a:pPr>
            <a:r>
              <a:rPr sz="1400" b="1">
                <a:solidFill>
                  <a:srgbClr val="0F5C5C"/>
                </a:solidFill>
                <a:latin typeface="Arial"/>
              </a:rPr>
              <a:t>An LLM judge, a chat assistant, SSO, </a:t>
            </a:r>
            <a:r>
              <a:rPr sz="1400" b="0">
                <a:solidFill>
                  <a:srgbClr val="1F1F1F"/>
                </a:solidFill>
                <a:latin typeface="Arial"/>
              </a:rPr>
              <a:t>and more than one currency per tenant.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